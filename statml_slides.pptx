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2"/>
  </p:notesMasterIdLst>
  <p:sldIdLst>
    <p:sldId id="256" r:id="rId5"/>
    <p:sldId id="257" r:id="rId6"/>
    <p:sldId id="258" r:id="rId7"/>
    <p:sldId id="259" r:id="rId8"/>
    <p:sldId id="260" r:id="rId9"/>
    <p:sldId id="271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2" r:id="rId21"/>
  </p:sldIdLst>
  <p:sldSz cx="12192000" cy="6858000"/>
  <p:notesSz cx="6858000" cy="9144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407A"/>
    <a:srgbClr val="2C5884"/>
    <a:srgbClr val="336699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D22514-F73B-41ED-B375-408515115699}" v="868" dt="2020-12-17T17:17:49.5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84" autoAdjust="0"/>
    <p:restoredTop sz="67891" autoAdjust="0"/>
  </p:normalViewPr>
  <p:slideViewPr>
    <p:cSldViewPr>
      <p:cViewPr varScale="1">
        <p:scale>
          <a:sx n="80" d="100"/>
          <a:sy n="80" d="100"/>
        </p:scale>
        <p:origin x="2448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0136FD-88AC-400E-8FF3-860BBCDAE150}" type="datetimeFigureOut">
              <a:rPr lang="en-US" smtClean="0"/>
              <a:t>1/25/21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B8C985-BE0A-4891-9A53-C05955636C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622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B8C985-BE0A-4891-9A53-C05955636CC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405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B8C985-BE0A-4891-9A53-C05955636CC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664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noFill/>
        </p:spPr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022485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title"/>
          </p:nvPr>
        </p:nvSpPr>
        <p:spPr>
          <a:xfrm>
            <a:off x="1117600" y="1143000"/>
            <a:ext cx="9956800" cy="114300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5" name="Inhaltsplatzhalter 2"/>
          <p:cNvSpPr>
            <a:spLocks noGrp="1"/>
          </p:cNvSpPr>
          <p:nvPr>
            <p:ph idx="1"/>
          </p:nvPr>
        </p:nvSpPr>
        <p:spPr>
          <a:xfrm>
            <a:off x="1117600" y="2590800"/>
            <a:ext cx="9956800" cy="3552844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92919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1117600" y="1143000"/>
            <a:ext cx="9956800" cy="114300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6" name="Inhaltsplatzhalter 2"/>
          <p:cNvSpPr>
            <a:spLocks noGrp="1"/>
          </p:cNvSpPr>
          <p:nvPr>
            <p:ph sz="half" idx="1"/>
          </p:nvPr>
        </p:nvSpPr>
        <p:spPr>
          <a:xfrm>
            <a:off x="1117600" y="2395550"/>
            <a:ext cx="4876800" cy="3748094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Inhaltsplatzhalter 3"/>
          <p:cNvSpPr>
            <a:spLocks noGrp="1"/>
          </p:cNvSpPr>
          <p:nvPr>
            <p:ph sz="half" idx="2"/>
          </p:nvPr>
        </p:nvSpPr>
        <p:spPr>
          <a:xfrm>
            <a:off x="6197600" y="2395550"/>
            <a:ext cx="4876800" cy="3748094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14743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>
            <a:spLocks noGrp="1"/>
          </p:cNvSpPr>
          <p:nvPr>
            <p:ph type="title"/>
          </p:nvPr>
        </p:nvSpPr>
        <p:spPr>
          <a:xfrm>
            <a:off x="609600" y="1131894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8" name="Textplatzhalter 2"/>
          <p:cNvSpPr>
            <a:spLocks noGrp="1"/>
          </p:cNvSpPr>
          <p:nvPr>
            <p:ph type="body" idx="1"/>
          </p:nvPr>
        </p:nvSpPr>
        <p:spPr>
          <a:xfrm>
            <a:off x="609600" y="2392369"/>
            <a:ext cx="5386917" cy="639762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9" name="Inhaltsplatzhalter 3"/>
          <p:cNvSpPr>
            <a:spLocks noGrp="1"/>
          </p:cNvSpPr>
          <p:nvPr>
            <p:ph sz="half" idx="2"/>
          </p:nvPr>
        </p:nvSpPr>
        <p:spPr>
          <a:xfrm>
            <a:off x="609600" y="3032132"/>
            <a:ext cx="5386917" cy="3325827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68" y="2392369"/>
            <a:ext cx="5389033" cy="639762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1" name="Inhaltsplatzhalter 5"/>
          <p:cNvSpPr>
            <a:spLocks noGrp="1"/>
          </p:cNvSpPr>
          <p:nvPr>
            <p:ph sz="quarter" idx="4"/>
          </p:nvPr>
        </p:nvSpPr>
        <p:spPr>
          <a:xfrm>
            <a:off x="6193368" y="3032132"/>
            <a:ext cx="5389033" cy="3325827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10065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698709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9804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609601" y="1004911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6" name="Inhaltsplatzhalter 2"/>
          <p:cNvSpPr>
            <a:spLocks noGrp="1"/>
          </p:cNvSpPr>
          <p:nvPr>
            <p:ph idx="1"/>
          </p:nvPr>
        </p:nvSpPr>
        <p:spPr>
          <a:xfrm>
            <a:off x="4766733" y="1000108"/>
            <a:ext cx="6815667" cy="528641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Textplatzhalter 3"/>
          <p:cNvSpPr>
            <a:spLocks noGrp="1"/>
          </p:cNvSpPr>
          <p:nvPr>
            <p:ph type="body" sz="half" idx="2"/>
          </p:nvPr>
        </p:nvSpPr>
        <p:spPr>
          <a:xfrm>
            <a:off x="609601" y="2166962"/>
            <a:ext cx="4011084" cy="411955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014390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>
          <a:xfrm>
            <a:off x="1117600" y="2590801"/>
            <a:ext cx="9956800" cy="3552825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608144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6" name="Bildplatzhalter 2"/>
          <p:cNvSpPr>
            <a:spLocks noGrp="1"/>
          </p:cNvSpPr>
          <p:nvPr>
            <p:ph type="pic" idx="1"/>
          </p:nvPr>
        </p:nvSpPr>
        <p:spPr>
          <a:xfrm>
            <a:off x="2389717" y="1142984"/>
            <a:ext cx="7315200" cy="3584591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</a:p>
        </p:txBody>
      </p:sp>
      <p:sp>
        <p:nvSpPr>
          <p:cNvPr id="7" name="Textplatzhalt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38982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Grafik 7" descr="Powerpoint-english-02.gif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Grafik 10" descr="Powerpoint-english.gif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51"/>
          <a:stretch>
            <a:fillRect/>
          </a:stretch>
        </p:blipFill>
        <p:spPr bwMode="hidden">
          <a:xfrm>
            <a:off x="0" y="1"/>
            <a:ext cx="12192000" cy="652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117600" y="1143000"/>
            <a:ext cx="9956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Klicken Sie, um das Titelformat</a:t>
            </a:r>
            <a:br>
              <a:rPr lang="de-DE"/>
            </a:br>
            <a:r>
              <a:rPr lang="de-DE"/>
              <a:t>zu bearbeiten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17600" y="2590800"/>
            <a:ext cx="995680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die Formate des Vorlagentextes zu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Rectangle 23"/>
          <p:cNvSpPr>
            <a:spLocks noChangeArrowheads="1"/>
          </p:cNvSpPr>
          <p:nvPr/>
        </p:nvSpPr>
        <p:spPr bwMode="auto">
          <a:xfrm>
            <a:off x="10566400" y="6557963"/>
            <a:ext cx="1422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defRPr/>
            </a:pPr>
            <a:r>
              <a:rPr lang="de-DE" sz="900" dirty="0">
                <a:solidFill>
                  <a:srgbClr val="00407A"/>
                </a:solidFill>
                <a:latin typeface="Arial" charset="0"/>
                <a:cs typeface="+mn-cs"/>
              </a:rPr>
              <a:t>p. </a:t>
            </a:r>
            <a:fld id="{57CCA1A9-9FA9-49C1-B61E-09CDD9FC0E55}" type="slidenum">
              <a:rPr lang="de-DE" sz="900">
                <a:solidFill>
                  <a:srgbClr val="00407A"/>
                </a:solidFill>
                <a:latin typeface="Arial" charset="0"/>
                <a:cs typeface="+mn-cs"/>
              </a:rPr>
              <a:pPr algn="r">
                <a:defRPr/>
              </a:pPr>
              <a:t>‹#›</a:t>
            </a:fld>
            <a:endParaRPr lang="de-DE" sz="900" dirty="0">
              <a:solidFill>
                <a:srgbClr val="00407A"/>
              </a:solidFill>
              <a:latin typeface="Arial" charset="0"/>
              <a:cs typeface="+mn-cs"/>
            </a:endParaRPr>
          </a:p>
        </p:txBody>
      </p:sp>
      <p:sp>
        <p:nvSpPr>
          <p:cNvPr id="10" name="Rectangle 23"/>
          <p:cNvSpPr>
            <a:spLocks noChangeArrowheads="1"/>
          </p:cNvSpPr>
          <p:nvPr/>
        </p:nvSpPr>
        <p:spPr bwMode="auto">
          <a:xfrm>
            <a:off x="203200" y="6557963"/>
            <a:ext cx="10058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US" sz="900" noProof="0" dirty="0" err="1">
                <a:solidFill>
                  <a:srgbClr val="00407A"/>
                </a:solidFill>
                <a:latin typeface="Arial" charset="0"/>
                <a:cs typeface="+mn-cs"/>
              </a:rPr>
              <a:t>KogSys</a:t>
            </a:r>
            <a:r>
              <a:rPr lang="en-US" sz="900" noProof="0" dirty="0">
                <a:solidFill>
                  <a:srgbClr val="00407A"/>
                </a:solidFill>
                <a:latin typeface="Arial" charset="0"/>
                <a:cs typeface="+mn-cs"/>
              </a:rPr>
              <a:t>/</a:t>
            </a:r>
            <a:r>
              <a:rPr lang="en-US" sz="900" noProof="0" dirty="0" err="1">
                <a:solidFill>
                  <a:srgbClr val="00407A"/>
                </a:solidFill>
                <a:latin typeface="Arial" charset="0"/>
                <a:cs typeface="+mn-cs"/>
              </a:rPr>
              <a:t>StatOek</a:t>
            </a:r>
            <a:r>
              <a:rPr lang="en-US" sz="900" noProof="0" dirty="0">
                <a:solidFill>
                  <a:srgbClr val="00407A"/>
                </a:solidFill>
                <a:latin typeface="Arial" charset="0"/>
                <a:cs typeface="+mn-cs"/>
              </a:rPr>
              <a:t> 2021 | Ute Schmid, Florian </a:t>
            </a:r>
            <a:r>
              <a:rPr lang="en-US" sz="900" noProof="0" dirty="0" err="1">
                <a:solidFill>
                  <a:srgbClr val="00407A"/>
                </a:solidFill>
                <a:latin typeface="Arial" charset="0"/>
                <a:cs typeface="+mn-cs"/>
              </a:rPr>
              <a:t>Meinfelder</a:t>
            </a:r>
            <a:r>
              <a:rPr lang="en-US" sz="900" noProof="0" dirty="0">
                <a:solidFill>
                  <a:srgbClr val="00407A"/>
                </a:solidFill>
                <a:latin typeface="Arial" charset="0"/>
                <a:cs typeface="+mn-cs"/>
              </a:rPr>
              <a:t>, Sarem Seitz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407A"/>
          </a:solidFill>
          <a:latin typeface="Arial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407A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407A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407A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407A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407A"/>
          </a:solidFill>
          <a:latin typeface="UB Scala" pitchFamily="2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407A"/>
          </a:solidFill>
          <a:latin typeface="UB Scala" pitchFamily="2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407A"/>
          </a:solidFill>
          <a:latin typeface="UB Scala" pitchFamily="2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407A"/>
          </a:solidFill>
          <a:latin typeface="UB Scala" pitchFamily="2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Arial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§"/>
        <a:defRPr>
          <a:solidFill>
            <a:schemeClr val="tx1"/>
          </a:solidFill>
          <a:latin typeface="Arial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+"/>
        <a:defRPr sz="1600">
          <a:solidFill>
            <a:schemeClr val="tx1"/>
          </a:solidFill>
          <a:latin typeface="Arial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Arial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65C0E-CE01-5D48-9BC0-6E244487F1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DE" dirty="0"/>
              <a:t>Statistical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BFA97C-44C2-B241-8712-F08C4BEE9D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DE" dirty="0"/>
              <a:t>Joint seminar KogSys &amp; StatOek</a:t>
            </a:r>
          </a:p>
          <a:p>
            <a:endParaRPr lang="en-DE" dirty="0"/>
          </a:p>
          <a:p>
            <a:r>
              <a:rPr lang="en-DE" dirty="0"/>
              <a:t>Florian Meinfelder</a:t>
            </a:r>
          </a:p>
          <a:p>
            <a:r>
              <a:rPr lang="en-DE" dirty="0"/>
              <a:t>Sarem Seitz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63488E-4587-DE46-BDCE-CA73AA34F75B}"/>
              </a:ext>
            </a:extLst>
          </p:cNvPr>
          <p:cNvSpPr txBox="1"/>
          <p:nvPr/>
        </p:nvSpPr>
        <p:spPr>
          <a:xfrm>
            <a:off x="529389" y="667351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658440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65C0E-CE01-5D48-9BC0-6E244487F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Today’s agenda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BFA97C-44C2-B241-8712-F08C4BEE9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DE" dirty="0"/>
              <a:t>Introduction</a:t>
            </a:r>
          </a:p>
          <a:p>
            <a:r>
              <a:rPr lang="en-DE" dirty="0"/>
              <a:t>Course overview and topics</a:t>
            </a:r>
          </a:p>
          <a:p>
            <a:r>
              <a:rPr lang="en-DE" dirty="0"/>
              <a:t>Basic statistical concepts</a:t>
            </a:r>
          </a:p>
          <a:p>
            <a:endParaRPr lang="en-D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63488E-4587-DE46-BDCE-CA73AA34F75B}"/>
              </a:ext>
            </a:extLst>
          </p:cNvPr>
          <p:cNvSpPr txBox="1"/>
          <p:nvPr/>
        </p:nvSpPr>
        <p:spPr>
          <a:xfrm>
            <a:off x="529389" y="667351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08606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65C0E-CE01-5D48-9BC0-6E244487F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Today’s agenda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BFA97C-44C2-B241-8712-F08C4BEE9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E" dirty="0"/>
              <a:t>Introduction</a:t>
            </a:r>
          </a:p>
          <a:p>
            <a:r>
              <a:rPr lang="en-DE" dirty="0"/>
              <a:t>Course agenda</a:t>
            </a:r>
          </a:p>
          <a:p>
            <a:r>
              <a:rPr lang="en-DE" dirty="0"/>
              <a:t>Basic statistical concepts</a:t>
            </a:r>
          </a:p>
          <a:p>
            <a:endParaRPr lang="en-D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63488E-4587-DE46-BDCE-CA73AA34F75B}"/>
              </a:ext>
            </a:extLst>
          </p:cNvPr>
          <p:cNvSpPr txBox="1"/>
          <p:nvPr/>
        </p:nvSpPr>
        <p:spPr>
          <a:xfrm>
            <a:off x="529389" y="667351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307517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65C0E-CE01-5D48-9BC0-6E244487F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Topics (1/3)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BFA97C-44C2-B241-8712-F08C4BEE9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E" sz="2000" dirty="0"/>
              <a:t>Linear basis function models</a:t>
            </a:r>
          </a:p>
          <a:p>
            <a:r>
              <a:rPr lang="en-DE" sz="2000" dirty="0"/>
              <a:t>Kernel methods</a:t>
            </a:r>
          </a:p>
          <a:p>
            <a:r>
              <a:rPr lang="en-DE" sz="2000" dirty="0"/>
              <a:t>Gaussian Process models</a:t>
            </a:r>
          </a:p>
          <a:p>
            <a:r>
              <a:rPr lang="en-DE" sz="2000" dirty="0"/>
              <a:t>Decision Trees and Random Forests</a:t>
            </a:r>
          </a:p>
          <a:p>
            <a:r>
              <a:rPr lang="en-DE" sz="2000" dirty="0"/>
              <a:t>Neural Networks and Deep Learning</a:t>
            </a:r>
          </a:p>
          <a:p>
            <a:r>
              <a:rPr lang="en-DE" sz="2000" dirty="0"/>
              <a:t>Uncertainty in Machine Learning</a:t>
            </a:r>
          </a:p>
          <a:p>
            <a:r>
              <a:rPr lang="en-DE" sz="2000" dirty="0"/>
              <a:t>Missing data and imputation methods</a:t>
            </a:r>
          </a:p>
          <a:p>
            <a:r>
              <a:rPr lang="en-DE" sz="2000" dirty="0"/>
              <a:t>Model evaluation</a:t>
            </a:r>
          </a:p>
          <a:p>
            <a:r>
              <a:rPr lang="en-DE" sz="2000" dirty="0"/>
              <a:t>Resampling methods (bootstrap, jackknife, bagging)</a:t>
            </a:r>
          </a:p>
          <a:p>
            <a:r>
              <a:rPr lang="en-DE" sz="2000" dirty="0"/>
              <a:t>Dependency analysis</a:t>
            </a:r>
          </a:p>
          <a:p>
            <a:endParaRPr lang="en-DE" dirty="0"/>
          </a:p>
          <a:p>
            <a:endParaRPr lang="en-DE" dirty="0"/>
          </a:p>
          <a:p>
            <a:endParaRPr lang="en-DE" dirty="0"/>
          </a:p>
          <a:p>
            <a:endParaRPr lang="en-D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63488E-4587-DE46-BDCE-CA73AA34F75B}"/>
              </a:ext>
            </a:extLst>
          </p:cNvPr>
          <p:cNvSpPr txBox="1"/>
          <p:nvPr/>
        </p:nvSpPr>
        <p:spPr>
          <a:xfrm>
            <a:off x="529389" y="667351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384516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65C0E-CE01-5D48-9BC0-6E244487F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Topics (2/3)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BFA97C-44C2-B241-8712-F08C4BEE9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E" sz="2000" dirty="0"/>
              <a:t>Statistical Natural Language Processing</a:t>
            </a:r>
          </a:p>
          <a:p>
            <a:r>
              <a:rPr lang="en-DE" sz="2000" dirty="0"/>
              <a:t>Regularization methods</a:t>
            </a:r>
          </a:p>
          <a:p>
            <a:r>
              <a:rPr lang="en-DE" sz="2000" dirty="0"/>
              <a:t>Statistical aspects of (Deep) Reinforcement Learning</a:t>
            </a:r>
          </a:p>
          <a:p>
            <a:r>
              <a:rPr lang="en-DE" sz="2000" dirty="0"/>
              <a:t>Probabilistic dimensionality reduction</a:t>
            </a:r>
          </a:p>
          <a:p>
            <a:r>
              <a:rPr lang="en-DE" sz="2000" dirty="0"/>
              <a:t>Probabilistic clustering methods</a:t>
            </a:r>
          </a:p>
          <a:p>
            <a:r>
              <a:rPr lang="en-DE" sz="2000" dirty="0"/>
              <a:t>Support Vector Machines</a:t>
            </a:r>
          </a:p>
          <a:p>
            <a:r>
              <a:rPr lang="en-DE" sz="2000" dirty="0"/>
              <a:t>Causal Analysis</a:t>
            </a:r>
          </a:p>
          <a:p>
            <a:r>
              <a:rPr lang="en-DE" sz="2000" dirty="0"/>
              <a:t>Nearest neighbor methods</a:t>
            </a:r>
          </a:p>
          <a:p>
            <a:r>
              <a:rPr lang="en-DE" sz="2000" dirty="0"/>
              <a:t>Generalized Additive Models</a:t>
            </a:r>
          </a:p>
          <a:p>
            <a:r>
              <a:rPr lang="en-DE" sz="2000" dirty="0"/>
              <a:t>Generative Adversarial models</a:t>
            </a:r>
          </a:p>
          <a:p>
            <a:endParaRPr lang="en-DE" sz="2000" dirty="0"/>
          </a:p>
          <a:p>
            <a:endParaRPr lang="en-DE" sz="2000" dirty="0"/>
          </a:p>
          <a:p>
            <a:endParaRPr lang="en-DE" sz="2000" dirty="0"/>
          </a:p>
          <a:p>
            <a:endParaRPr lang="en-DE" sz="2000" dirty="0"/>
          </a:p>
          <a:p>
            <a:endParaRPr lang="en-DE" sz="2000" dirty="0"/>
          </a:p>
          <a:p>
            <a:endParaRPr lang="en-DE" sz="2000" dirty="0"/>
          </a:p>
          <a:p>
            <a:endParaRPr lang="en-DE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63488E-4587-DE46-BDCE-CA73AA34F75B}"/>
              </a:ext>
            </a:extLst>
          </p:cNvPr>
          <p:cNvSpPr txBox="1"/>
          <p:nvPr/>
        </p:nvSpPr>
        <p:spPr>
          <a:xfrm>
            <a:off x="529389" y="667351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431628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65C0E-CE01-5D48-9BC0-6E244487F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Topics (3/3)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BFA97C-44C2-B241-8712-F08C4BEE9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E" sz="2000" dirty="0"/>
              <a:t>Boosting</a:t>
            </a:r>
          </a:p>
          <a:p>
            <a:r>
              <a:rPr lang="en-DE" sz="2000" dirty="0"/>
              <a:t>Probabilistic Graphical Models</a:t>
            </a:r>
          </a:p>
          <a:p>
            <a:r>
              <a:rPr lang="en-DE" sz="2000" dirty="0"/>
              <a:t>Probabilistic Knowledge Representation</a:t>
            </a:r>
          </a:p>
          <a:p>
            <a:endParaRPr lang="en-DE" sz="2000" dirty="0"/>
          </a:p>
          <a:p>
            <a:endParaRPr lang="en-DE" sz="2000" dirty="0"/>
          </a:p>
          <a:p>
            <a:endParaRPr lang="en-DE" sz="2000" dirty="0"/>
          </a:p>
          <a:p>
            <a:endParaRPr lang="en-DE" sz="2000" dirty="0"/>
          </a:p>
          <a:p>
            <a:endParaRPr lang="en-DE" sz="2000" dirty="0"/>
          </a:p>
          <a:p>
            <a:endParaRPr lang="en-DE" sz="2000" dirty="0"/>
          </a:p>
          <a:p>
            <a:endParaRPr lang="en-DE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63488E-4587-DE46-BDCE-CA73AA34F75B}"/>
              </a:ext>
            </a:extLst>
          </p:cNvPr>
          <p:cNvSpPr txBox="1"/>
          <p:nvPr/>
        </p:nvSpPr>
        <p:spPr>
          <a:xfrm>
            <a:off x="529389" y="667351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302922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65C0E-CE01-5D48-9BC0-6E244487F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Linear basis function models – Introductory literature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BFA97C-44C2-B241-8712-F08C4BEE9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E" dirty="0"/>
              <a:t>Hastie et al. – The Elements of Statistical Learning (2017); Ch. 5</a:t>
            </a:r>
          </a:p>
          <a:p>
            <a:r>
              <a:rPr lang="en-DE" dirty="0"/>
              <a:t>de Boor – A practical guide to splines (1978)</a:t>
            </a:r>
          </a:p>
          <a:p>
            <a:endParaRPr lang="en-DE" dirty="0"/>
          </a:p>
          <a:p>
            <a:endParaRPr lang="en-DE" dirty="0"/>
          </a:p>
          <a:p>
            <a:endParaRPr lang="en-DE" dirty="0"/>
          </a:p>
          <a:p>
            <a:endParaRPr lang="en-DE" dirty="0"/>
          </a:p>
          <a:p>
            <a:endParaRPr lang="en-DE" dirty="0"/>
          </a:p>
          <a:p>
            <a:endParaRPr lang="en-D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63488E-4587-DE46-BDCE-CA73AA34F75B}"/>
              </a:ext>
            </a:extLst>
          </p:cNvPr>
          <p:cNvSpPr txBox="1"/>
          <p:nvPr/>
        </p:nvSpPr>
        <p:spPr>
          <a:xfrm>
            <a:off x="529389" y="667351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617944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65C0E-CE01-5D48-9BC0-6E244487F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Kernels methods – Introductory literature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BFA97C-44C2-B241-8712-F08C4BEE9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E" dirty="0"/>
              <a:t>Schoelkopf – Learning with kernels (1998)</a:t>
            </a:r>
          </a:p>
          <a:p>
            <a:r>
              <a:rPr lang="en-DE" dirty="0"/>
              <a:t>Shawe-Taylor, Christianini – Kernel methods for pattern analysis (2011)</a:t>
            </a:r>
          </a:p>
          <a:p>
            <a:r>
              <a:rPr lang="en-DE" dirty="0"/>
              <a:t>Berlinet, Thomas-Agnan – RKHS in Probablity and Statistics (2004)</a:t>
            </a:r>
          </a:p>
          <a:p>
            <a:endParaRPr lang="en-DE" dirty="0"/>
          </a:p>
          <a:p>
            <a:endParaRPr lang="en-DE" dirty="0"/>
          </a:p>
          <a:p>
            <a:endParaRPr lang="en-DE" dirty="0"/>
          </a:p>
          <a:p>
            <a:endParaRPr lang="en-DE" dirty="0"/>
          </a:p>
          <a:p>
            <a:endParaRPr lang="en-D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63488E-4587-DE46-BDCE-CA73AA34F75B}"/>
              </a:ext>
            </a:extLst>
          </p:cNvPr>
          <p:cNvSpPr txBox="1"/>
          <p:nvPr/>
        </p:nvSpPr>
        <p:spPr>
          <a:xfrm>
            <a:off x="529389" y="667351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679715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65C0E-CE01-5D48-9BC0-6E244487F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Gaussian Process models – Introductory literature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BFA97C-44C2-B241-8712-F08C4BEE9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E" dirty="0"/>
              <a:t>Rasmussen – Gaussian Processes for Machine Learning (2005)</a:t>
            </a:r>
          </a:p>
          <a:p>
            <a:endParaRPr lang="en-DE" dirty="0"/>
          </a:p>
          <a:p>
            <a:endParaRPr lang="en-DE" dirty="0"/>
          </a:p>
          <a:p>
            <a:endParaRPr lang="en-DE" dirty="0"/>
          </a:p>
          <a:p>
            <a:endParaRPr lang="en-D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63488E-4587-DE46-BDCE-CA73AA34F75B}"/>
              </a:ext>
            </a:extLst>
          </p:cNvPr>
          <p:cNvSpPr txBox="1"/>
          <p:nvPr/>
        </p:nvSpPr>
        <p:spPr>
          <a:xfrm>
            <a:off x="529389" y="667351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487522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65C0E-CE01-5D48-9BC0-6E244487F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Gaussian Process models – Introductory literature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BFA97C-44C2-B241-8712-F08C4BEE9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E" dirty="0"/>
              <a:t>Rasmussen – Gaussian Processes for Machine Learning (2005)</a:t>
            </a:r>
          </a:p>
          <a:p>
            <a:endParaRPr lang="en-DE" dirty="0"/>
          </a:p>
          <a:p>
            <a:endParaRPr lang="en-DE" dirty="0"/>
          </a:p>
          <a:p>
            <a:endParaRPr lang="en-DE" dirty="0"/>
          </a:p>
          <a:p>
            <a:endParaRPr lang="en-D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63488E-4587-DE46-BDCE-CA73AA34F75B}"/>
              </a:ext>
            </a:extLst>
          </p:cNvPr>
          <p:cNvSpPr txBox="1"/>
          <p:nvPr/>
        </p:nvSpPr>
        <p:spPr>
          <a:xfrm>
            <a:off x="529389" y="667351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788899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65C0E-CE01-5D48-9BC0-6E244487F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Decision Trees and Random Forests – Introductory literature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BFA97C-44C2-B241-8712-F08C4BEE9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E" dirty="0"/>
              <a:t>Breiman – Classification and Regression Trees (1984)</a:t>
            </a:r>
          </a:p>
          <a:p>
            <a:endParaRPr lang="en-DE" dirty="0"/>
          </a:p>
          <a:p>
            <a:endParaRPr lang="en-DE" dirty="0"/>
          </a:p>
          <a:p>
            <a:endParaRPr lang="en-DE" dirty="0"/>
          </a:p>
          <a:p>
            <a:endParaRPr lang="en-D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63488E-4587-DE46-BDCE-CA73AA34F75B}"/>
              </a:ext>
            </a:extLst>
          </p:cNvPr>
          <p:cNvSpPr txBox="1"/>
          <p:nvPr/>
        </p:nvSpPr>
        <p:spPr>
          <a:xfrm>
            <a:off x="529389" y="667351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869379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65C0E-CE01-5D48-9BC0-6E244487F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Neural Networks and Deep Learning – Introductory literature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BFA97C-44C2-B241-8712-F08C4BEE9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E" dirty="0"/>
              <a:t>Goodfellow et al. – Deep Learning (2016)</a:t>
            </a:r>
          </a:p>
          <a:p>
            <a:endParaRPr lang="en-DE" dirty="0"/>
          </a:p>
          <a:p>
            <a:endParaRPr lang="en-DE" dirty="0"/>
          </a:p>
          <a:p>
            <a:endParaRPr lang="en-DE" dirty="0"/>
          </a:p>
          <a:p>
            <a:endParaRPr lang="en-D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63488E-4587-DE46-BDCE-CA73AA34F75B}"/>
              </a:ext>
            </a:extLst>
          </p:cNvPr>
          <p:cNvSpPr txBox="1"/>
          <p:nvPr/>
        </p:nvSpPr>
        <p:spPr>
          <a:xfrm>
            <a:off x="529389" y="667351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639780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65C0E-CE01-5D48-9BC0-6E244487F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Uncertainty in Machine Learning – Introductory literature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BFA97C-44C2-B241-8712-F08C4BEE9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E" dirty="0"/>
              <a:t>Gal – Uncertainty in Deep Learning (2016; PhD thesis)</a:t>
            </a:r>
          </a:p>
          <a:p>
            <a:endParaRPr lang="en-DE" dirty="0"/>
          </a:p>
          <a:p>
            <a:endParaRPr lang="en-DE" dirty="0"/>
          </a:p>
          <a:p>
            <a:endParaRPr lang="en-DE" dirty="0"/>
          </a:p>
          <a:p>
            <a:endParaRPr lang="en-D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63488E-4587-DE46-BDCE-CA73AA34F75B}"/>
              </a:ext>
            </a:extLst>
          </p:cNvPr>
          <p:cNvSpPr txBox="1"/>
          <p:nvPr/>
        </p:nvSpPr>
        <p:spPr>
          <a:xfrm>
            <a:off x="529389" y="667351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5663918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65C0E-CE01-5D48-9BC0-6E244487F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Missing data and imputation methods – Introductory literature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BFA97C-44C2-B241-8712-F08C4BEE9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E" dirty="0"/>
              <a:t>Little, Rubin – Statistical Analysis with Missing Data (2020)</a:t>
            </a:r>
          </a:p>
          <a:p>
            <a:endParaRPr lang="en-DE" dirty="0"/>
          </a:p>
          <a:p>
            <a:endParaRPr lang="en-DE" dirty="0"/>
          </a:p>
          <a:p>
            <a:endParaRPr lang="en-DE" dirty="0"/>
          </a:p>
          <a:p>
            <a:endParaRPr lang="en-D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63488E-4587-DE46-BDCE-CA73AA34F75B}"/>
              </a:ext>
            </a:extLst>
          </p:cNvPr>
          <p:cNvSpPr txBox="1"/>
          <p:nvPr/>
        </p:nvSpPr>
        <p:spPr>
          <a:xfrm>
            <a:off x="529389" y="667351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1944219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65C0E-CE01-5D48-9BC0-6E244487F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Model evaluation – Introductory literature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BFA97C-44C2-B241-8712-F08C4BEE9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E" dirty="0"/>
              <a:t>Hastie et al. – The Elements of Statistical Learning (2017); Ch. 7</a:t>
            </a:r>
          </a:p>
          <a:p>
            <a:r>
              <a:rPr lang="en-DE" dirty="0"/>
              <a:t>Mohri et al. – Foundations of Machine Learning (2018); Ch. 2-4</a:t>
            </a:r>
          </a:p>
          <a:p>
            <a:endParaRPr lang="en-DE" dirty="0"/>
          </a:p>
          <a:p>
            <a:endParaRPr lang="en-DE" dirty="0"/>
          </a:p>
          <a:p>
            <a:endParaRPr lang="en-DE" dirty="0"/>
          </a:p>
          <a:p>
            <a:endParaRPr lang="en-D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63488E-4587-DE46-BDCE-CA73AA34F75B}"/>
              </a:ext>
            </a:extLst>
          </p:cNvPr>
          <p:cNvSpPr txBox="1"/>
          <p:nvPr/>
        </p:nvSpPr>
        <p:spPr>
          <a:xfrm>
            <a:off x="529389" y="667351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7641866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65C0E-CE01-5D48-9BC0-6E244487F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Resampling methods – Introductory literature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BFA97C-44C2-B241-8712-F08C4BEE9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E" dirty="0"/>
              <a:t>Hastie et al. – The Elements of Statistical Learning (2017); Ch. 8</a:t>
            </a:r>
          </a:p>
          <a:p>
            <a:r>
              <a:rPr lang="en-DE" dirty="0"/>
              <a:t>Breiman – Bagging Predictors (1996)</a:t>
            </a:r>
          </a:p>
          <a:p>
            <a:r>
              <a:rPr lang="en-DE" dirty="0"/>
              <a:t>Efron, Tishbirani – </a:t>
            </a:r>
            <a:r>
              <a:rPr lang="en-GB" dirty="0"/>
              <a:t>An introduction to the bootstrap (1993)</a:t>
            </a:r>
          </a:p>
          <a:p>
            <a:r>
              <a:rPr lang="en-GB" dirty="0" err="1"/>
              <a:t>Efron</a:t>
            </a:r>
            <a:r>
              <a:rPr lang="en-GB" dirty="0"/>
              <a:t> – Bootstrap Methods: Another look at the </a:t>
            </a:r>
            <a:r>
              <a:rPr lang="en-GB" dirty="0" err="1"/>
              <a:t>Jackknife</a:t>
            </a:r>
            <a:r>
              <a:rPr lang="en-GB" dirty="0"/>
              <a:t> (1979)</a:t>
            </a:r>
            <a:endParaRPr lang="en-DE" dirty="0"/>
          </a:p>
          <a:p>
            <a:endParaRPr lang="en-DE" dirty="0"/>
          </a:p>
          <a:p>
            <a:endParaRPr lang="en-DE" dirty="0"/>
          </a:p>
          <a:p>
            <a:endParaRPr lang="en-D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63488E-4587-DE46-BDCE-CA73AA34F75B}"/>
              </a:ext>
            </a:extLst>
          </p:cNvPr>
          <p:cNvSpPr txBox="1"/>
          <p:nvPr/>
        </p:nvSpPr>
        <p:spPr>
          <a:xfrm>
            <a:off x="529389" y="667351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2177296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65C0E-CE01-5D48-9BC0-6E244487F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Dependency Analysis – Introductory literature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BFA97C-44C2-B241-8712-F08C4BEE9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E" dirty="0"/>
              <a:t>Cohen et al. - </a:t>
            </a:r>
            <a:r>
              <a:rPr lang="en-GB" dirty="0"/>
              <a:t>Applied Multiple Regression/Correlation Analysis for the </a:t>
            </a:r>
            <a:r>
              <a:rPr lang="en-GB" dirty="0" err="1"/>
              <a:t>Behavioral</a:t>
            </a:r>
            <a:r>
              <a:rPr lang="en-GB" dirty="0"/>
              <a:t> Sciences (2003)</a:t>
            </a:r>
          </a:p>
          <a:p>
            <a:r>
              <a:rPr lang="en-GB" dirty="0" err="1"/>
              <a:t>Székely</a:t>
            </a:r>
            <a:r>
              <a:rPr lang="en-GB" dirty="0"/>
              <a:t> et al. – Measuring an testing dependence by correlation of distances (2008)</a:t>
            </a:r>
          </a:p>
          <a:p>
            <a:r>
              <a:rPr lang="en-GB" dirty="0"/>
              <a:t>Joe – Dependence </a:t>
            </a:r>
            <a:r>
              <a:rPr lang="en-GB" dirty="0" err="1"/>
              <a:t>modeling</a:t>
            </a:r>
            <a:r>
              <a:rPr lang="en-GB" dirty="0"/>
              <a:t> with copulas (2014)</a:t>
            </a:r>
            <a:endParaRPr lang="en-DE" dirty="0"/>
          </a:p>
          <a:p>
            <a:endParaRPr lang="en-DE" dirty="0"/>
          </a:p>
          <a:p>
            <a:endParaRPr lang="en-D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63488E-4587-DE46-BDCE-CA73AA34F75B}"/>
              </a:ext>
            </a:extLst>
          </p:cNvPr>
          <p:cNvSpPr txBox="1"/>
          <p:nvPr/>
        </p:nvSpPr>
        <p:spPr>
          <a:xfrm>
            <a:off x="529389" y="667351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751061375"/>
      </p:ext>
    </p:extLst>
  </p:cSld>
  <p:clrMapOvr>
    <a:masterClrMapping/>
  </p:clrMapOvr>
</p:sld>
</file>

<file path=ppt/theme/theme1.xml><?xml version="1.0" encoding="utf-8"?>
<a:theme xmlns:a="http://schemas.openxmlformats.org/drawingml/2006/main" name="Vorlage_ohne_Titelbild_englisch">
  <a:themeElements>
    <a:clrScheme name="ub-cd-neu-v2-4 1">
      <a:dk1>
        <a:srgbClr val="000000"/>
      </a:dk1>
      <a:lt1>
        <a:srgbClr val="C8D0E2"/>
      </a:lt1>
      <a:dk2>
        <a:srgbClr val="00457D"/>
      </a:dk2>
      <a:lt2>
        <a:srgbClr val="808080"/>
      </a:lt2>
      <a:accent1>
        <a:srgbClr val="5D7FAA"/>
      </a:accent1>
      <a:accent2>
        <a:srgbClr val="97BF0D"/>
      </a:accent2>
      <a:accent3>
        <a:srgbClr val="E0E4EE"/>
      </a:accent3>
      <a:accent4>
        <a:srgbClr val="000000"/>
      </a:accent4>
      <a:accent5>
        <a:srgbClr val="B6C0D2"/>
      </a:accent5>
      <a:accent6>
        <a:srgbClr val="88AD0B"/>
      </a:accent6>
      <a:hlink>
        <a:srgbClr val="92A5C5"/>
      </a:hlink>
      <a:folHlink>
        <a:srgbClr val="C6D982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ub-cd-neu-v2-4 1">
        <a:dk1>
          <a:srgbClr val="000000"/>
        </a:dk1>
        <a:lt1>
          <a:srgbClr val="C8D0E2"/>
        </a:lt1>
        <a:dk2>
          <a:srgbClr val="00457D"/>
        </a:dk2>
        <a:lt2>
          <a:srgbClr val="808080"/>
        </a:lt2>
        <a:accent1>
          <a:srgbClr val="5D7FAA"/>
        </a:accent1>
        <a:accent2>
          <a:srgbClr val="97BF0D"/>
        </a:accent2>
        <a:accent3>
          <a:srgbClr val="E0E4EE"/>
        </a:accent3>
        <a:accent4>
          <a:srgbClr val="000000"/>
        </a:accent4>
        <a:accent5>
          <a:srgbClr val="B6C0D2"/>
        </a:accent5>
        <a:accent6>
          <a:srgbClr val="88AD0B"/>
        </a:accent6>
        <a:hlink>
          <a:srgbClr val="92A5C5"/>
        </a:hlink>
        <a:folHlink>
          <a:srgbClr val="C6D98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b-cd-neu-v2-4 2">
        <a:dk1>
          <a:srgbClr val="000000"/>
        </a:dk1>
        <a:lt1>
          <a:srgbClr val="C8D0E2"/>
        </a:lt1>
        <a:dk2>
          <a:srgbClr val="00457D"/>
        </a:dk2>
        <a:lt2>
          <a:srgbClr val="808080"/>
        </a:lt2>
        <a:accent1>
          <a:srgbClr val="5D7FAA"/>
        </a:accent1>
        <a:accent2>
          <a:srgbClr val="FFD300"/>
        </a:accent2>
        <a:accent3>
          <a:srgbClr val="E0E4EE"/>
        </a:accent3>
        <a:accent4>
          <a:srgbClr val="000000"/>
        </a:accent4>
        <a:accent5>
          <a:srgbClr val="B6C0D2"/>
        </a:accent5>
        <a:accent6>
          <a:srgbClr val="E7BF00"/>
        </a:accent6>
        <a:hlink>
          <a:srgbClr val="92A5C5"/>
        </a:hlink>
        <a:folHlink>
          <a:srgbClr val="FFE3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b-cd-neu-v2-4 3">
        <a:dk1>
          <a:srgbClr val="000000"/>
        </a:dk1>
        <a:lt1>
          <a:srgbClr val="C8D0E2"/>
        </a:lt1>
        <a:dk2>
          <a:srgbClr val="00457D"/>
        </a:dk2>
        <a:lt2>
          <a:srgbClr val="808080"/>
        </a:lt2>
        <a:accent1>
          <a:srgbClr val="5D7FAA"/>
        </a:accent1>
        <a:accent2>
          <a:srgbClr val="E6444F"/>
        </a:accent2>
        <a:accent3>
          <a:srgbClr val="E0E4EE"/>
        </a:accent3>
        <a:accent4>
          <a:srgbClr val="000000"/>
        </a:accent4>
        <a:accent5>
          <a:srgbClr val="B6C0D2"/>
        </a:accent5>
        <a:accent6>
          <a:srgbClr val="D03D47"/>
        </a:accent6>
        <a:hlink>
          <a:srgbClr val="92A5C5"/>
        </a:hlink>
        <a:folHlink>
          <a:srgbClr val="F1998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b-cd-neu-v2-4 4">
        <a:dk1>
          <a:srgbClr val="000000"/>
        </a:dk1>
        <a:lt1>
          <a:srgbClr val="C8D0E2"/>
        </a:lt1>
        <a:dk2>
          <a:srgbClr val="00457D"/>
        </a:dk2>
        <a:lt2>
          <a:srgbClr val="808080"/>
        </a:lt2>
        <a:accent1>
          <a:srgbClr val="5D7FAA"/>
        </a:accent1>
        <a:accent2>
          <a:srgbClr val="878783"/>
        </a:accent2>
        <a:accent3>
          <a:srgbClr val="E0E4EE"/>
        </a:accent3>
        <a:accent4>
          <a:srgbClr val="000000"/>
        </a:accent4>
        <a:accent5>
          <a:srgbClr val="B6C0D2"/>
        </a:accent5>
        <a:accent6>
          <a:srgbClr val="7A7A76"/>
        </a:accent6>
        <a:hlink>
          <a:srgbClr val="92A5C5"/>
        </a:hlink>
        <a:folHlink>
          <a:srgbClr val="B9BAB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b-cd-neu-v2-4 5">
        <a:dk1>
          <a:srgbClr val="000000"/>
        </a:dk1>
        <a:lt1>
          <a:srgbClr val="C8D0E2"/>
        </a:lt1>
        <a:dk2>
          <a:srgbClr val="00457D"/>
        </a:dk2>
        <a:lt2>
          <a:srgbClr val="808080"/>
        </a:lt2>
        <a:accent1>
          <a:srgbClr val="5D7FAA"/>
        </a:accent1>
        <a:accent2>
          <a:srgbClr val="00457D"/>
        </a:accent2>
        <a:accent3>
          <a:srgbClr val="E0E4EE"/>
        </a:accent3>
        <a:accent4>
          <a:srgbClr val="000000"/>
        </a:accent4>
        <a:accent5>
          <a:srgbClr val="B6C0D2"/>
        </a:accent5>
        <a:accent6>
          <a:srgbClr val="003E71"/>
        </a:accent6>
        <a:hlink>
          <a:srgbClr val="92A5C5"/>
        </a:hlink>
        <a:folHlink>
          <a:srgbClr val="C8D0E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E31E18471825744A8040D297A1EB77C" ma:contentTypeVersion="10" ma:contentTypeDescription="Create a new document." ma:contentTypeScope="" ma:versionID="8dee1269ebbe9920f038a8078054bfb1">
  <xsd:schema xmlns:xsd="http://www.w3.org/2001/XMLSchema" xmlns:xs="http://www.w3.org/2001/XMLSchema" xmlns:p="http://schemas.microsoft.com/office/2006/metadata/properties" xmlns:ns3="726f9a4e-4862-4ea2-96cf-7fde73cedca6" xmlns:ns4="061962ec-5a1f-470e-9ab3-819770600c5a" targetNamespace="http://schemas.microsoft.com/office/2006/metadata/properties" ma:root="true" ma:fieldsID="06792529abea4570824d100761b4ce90" ns3:_="" ns4:_="">
    <xsd:import namespace="726f9a4e-4862-4ea2-96cf-7fde73cedca6"/>
    <xsd:import namespace="061962ec-5a1f-470e-9ab3-819770600c5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6f9a4e-4862-4ea2-96cf-7fde73cedca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1962ec-5a1f-470e-9ab3-819770600c5a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C0304FE-5A3C-4B68-8A7D-911A9A29C00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664A82B-1613-4C88-8702-7A8D5B613BF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26f9a4e-4862-4ea2-96cf-7fde73cedca6"/>
    <ds:schemaRef ds:uri="061962ec-5a1f-470e-9ab3-819770600c5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BFCF379-EAFE-4C38-A987-AB8CD0323FB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203</TotalTime>
  <Words>440</Words>
  <Application>Microsoft Macintosh PowerPoint</Application>
  <PresentationFormat>Widescreen</PresentationFormat>
  <Paragraphs>106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Times New Roman</vt:lpstr>
      <vt:lpstr>UB Scala</vt:lpstr>
      <vt:lpstr>Wingdings</vt:lpstr>
      <vt:lpstr>Vorlage_ohne_Titelbild_englisch</vt:lpstr>
      <vt:lpstr>Statistical Machine Learning</vt:lpstr>
      <vt:lpstr>Today’s agenda</vt:lpstr>
      <vt:lpstr>Today’s agenda</vt:lpstr>
      <vt:lpstr>Topics (1/3)</vt:lpstr>
      <vt:lpstr>Topics (2/3)</vt:lpstr>
      <vt:lpstr>Topics (3/3)</vt:lpstr>
      <vt:lpstr>Linear basis function models – Introductory literature</vt:lpstr>
      <vt:lpstr>Kernels methods – Introductory literature</vt:lpstr>
      <vt:lpstr>Gaussian Process models – Introductory literature</vt:lpstr>
      <vt:lpstr>Gaussian Process models – Introductory literature</vt:lpstr>
      <vt:lpstr>Decision Trees and Random Forests – Introductory literature</vt:lpstr>
      <vt:lpstr>Neural Networks and Deep Learning – Introductory literature</vt:lpstr>
      <vt:lpstr>Uncertainty in Machine Learning – Introductory literature</vt:lpstr>
      <vt:lpstr>Missing data and imputation methods – Introductory literature</vt:lpstr>
      <vt:lpstr>Model evaluation – Introductory literature</vt:lpstr>
      <vt:lpstr>Resampling methods – Introductory literature</vt:lpstr>
      <vt:lpstr>Dependency Analysis – Introductory literature</vt:lpstr>
    </vt:vector>
  </TitlesOfParts>
  <Company>Uni-Bamberg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Universität Bamberg</dc:creator>
  <cp:lastModifiedBy>Sarem Seitz</cp:lastModifiedBy>
  <cp:revision>38</cp:revision>
  <dcterms:created xsi:type="dcterms:W3CDTF">2013-05-16T16:32:47Z</dcterms:created>
  <dcterms:modified xsi:type="dcterms:W3CDTF">2021-01-25T16:41:15Z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0x0101003E31E18471825744A8040D297A1EB77C</vt:lpwstr>
  </property>
</Properties>
</file>